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b453ca69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b453ca69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 name - 2 marks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Mentor’s name - 2 marks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Topic name - 2 marks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-&gt; automated grading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453ca6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453ca6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453ca69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b453ca69b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453ca69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b453ca69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453ca69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453ca69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453ca69b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453ca69b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b453ca69b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b453ca69b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9A7B4C6-E2CC-9A0C-E4D8-A59DF9F8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>
            <a:extLst>
              <a:ext uri="{FF2B5EF4-FFF2-40B4-BE49-F238E27FC236}">
                <a16:creationId xmlns:a16="http://schemas.microsoft.com/office/drawing/2014/main" id="{E26F231B-6433-622A-B783-7E4B981E01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>
            <a:extLst>
              <a:ext uri="{FF2B5EF4-FFF2-40B4-BE49-F238E27FC236}">
                <a16:creationId xmlns:a16="http://schemas.microsoft.com/office/drawing/2014/main" id="{51DFF857-CD8F-8C9E-3279-7DFCB344C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698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1B2C14FC-60D4-236B-E2C7-E1072960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>
            <a:extLst>
              <a:ext uri="{FF2B5EF4-FFF2-40B4-BE49-F238E27FC236}">
                <a16:creationId xmlns:a16="http://schemas.microsoft.com/office/drawing/2014/main" id="{4EFB044E-64BC-7CF9-0FDE-43D97249ED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>
            <a:extLst>
              <a:ext uri="{FF2B5EF4-FFF2-40B4-BE49-F238E27FC236}">
                <a16:creationId xmlns:a16="http://schemas.microsoft.com/office/drawing/2014/main" id="{AD7CE4EE-08E0-1767-7F52-21CA575F3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0791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b453ca69b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b453ca69b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b453ca69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b453ca69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b453ca69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b453ca69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sAimlGitHub/credit-risk-capston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83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1818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Machine Learning Approaches for Credit Default Prediction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QM640 V1: Data Analytics Capstone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18181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</a:t>
            </a: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450" y="3514025"/>
            <a:ext cx="8102700" cy="974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Mothy Krishna Nanduri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Sudha B G (Mentor)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 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1831368"/>
            <a:ext cx="7688700" cy="2720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ML models to predict borrower credit‑default using the UCI German Credit Dataset (1,000 records).</a:t>
            </a:r>
          </a:p>
          <a:p>
            <a:pPr lvl="0"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an end‑to‑end pipeline: EDA → preprocessing → modelling → interpretability → fairness analysis.</a:t>
            </a:r>
          </a:p>
          <a:p>
            <a:pPr lvl="0"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Logistic Regression, Random Forest, SVM (RBF), and Gradient Boosting.</a:t>
            </a:r>
          </a:p>
          <a:p>
            <a:pPr lvl="0"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delivered the most balanced performance (Accuracy ≈ 0.78, ROC‑AUC ≈ 0.80).</a:t>
            </a:r>
          </a:p>
          <a:p>
            <a:pPr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and fairness metrics confirmed transparency, key drivers, and no major demographic bias.</a:t>
            </a:r>
          </a:p>
          <a:p>
            <a:pPr>
              <a:lnSpc>
                <a:spcPct val="200000"/>
              </a:lnSpc>
            </a:pP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lnSpc>
                <a:spcPct val="200000"/>
              </a:lnSpc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IN" u="sng" dirty="0">
                <a:hlinkClick r:id="rId3"/>
              </a:rPr>
              <a:t>https://github.com/KrisAimlGitHub/credit-risk-capstone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credit‑scoring models emphasize accuracy but often lack interpretability and fairness evaluation.</a:t>
            </a:r>
          </a:p>
          <a:p>
            <a:pPr lvl="0"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bodies increasingly require explainable and non-discriminatory AI in lending decisions.</a:t>
            </a:r>
          </a:p>
          <a:p>
            <a:pPr lvl="0"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studies use modern ML models but do not integrate SHAP‑based interpretability and fairness metrics.</a:t>
            </a:r>
          </a:p>
          <a:p>
            <a:pPr>
              <a:lnSpc>
                <a:spcPct val="200000"/>
              </a:lnSpc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fills the gap by combining performance, transparency, and fairness in a unified framework.</a:t>
            </a:r>
            <a:endParaRPr lang="en-US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endParaRPr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1711039"/>
            <a:ext cx="7688700" cy="31865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RQ1: Which borrower attributes most strongly predict credit default?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RQ2: Which ML model provides the highest predictive accuracy?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RQ3: How do SHAP values explain model predictions?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RQ4: Do models show fairness concerns across age and gender?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H0: No significant performance difference exists between models.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H1: At least one model significantly outperforms the others.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Used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EDA, Logistic Regression, Random Forest, SVM, Gradient Boosting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SHAP interpretability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Fairness metrics (DI, EOD, FPR Diff, Accuracy Diff)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 and EDA</a:t>
            </a:r>
            <a:endParaRPr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7650" y="1736090"/>
            <a:ext cx="7688700" cy="2891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Source: UCI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Statlog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German Credit Dataset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Size: 1,000 borrowers, 20 predictors, 1 target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Types: 13 categorical, 7 numerical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Target distribution: 70% good credit, 30% bad credit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EDA Insights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Credit amount varies widely (250–18,424) → scaling required.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Dominant categories in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checking_status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credit_history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purpose.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No missing values; moderate class imbalance.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Mixed data types → hybrid preprocessing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163782"/>
            <a:ext cx="7688700" cy="768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diagram/Workflow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29450" y="1853850"/>
            <a:ext cx="7688700" cy="2905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End‑to‑End Workflow</a:t>
            </a: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Data ingestion &amp; cleaning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Exploratory Data Analysis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Preprocessing (one‑hot encoding + scaling)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Train/test split (70/30 stratified)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Model training (LR, RF, SVM, GB)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Performance evaluation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SHAP interpretability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Fairness analysis (age, gender)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Python, scikit‑learn, SHAP, fairness metrics</a:t>
            </a:r>
            <a:endParaRPr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endParaRPr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1853850"/>
            <a:ext cx="7688700" cy="2669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Choices &amp; Rationale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Logistic Regression: Interpretable, regulatory friendly baseline.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Random Forest: Captures nonlinear patterns and interactions.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SVM (RBF): Strong discriminative power in high dimensional space.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Gradient Boosting: Effective for structured tabular data.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IN" sz="1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One hot encoding for categorical variables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numerical variables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ColumnTransformer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unified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729450" y="1701455"/>
            <a:ext cx="7688700" cy="2718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(Test Set)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Logistic Regression: Accuracy 0.78, ROC AUC 0.80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SVM (RBF): Highest precision (0.73) &amp; ROC AUC (0.80+)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Random Forest: Lower recall (more false negatives)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Gradient Boosting: Moderate performance overall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Logistic Regression = most balanced model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SVM = strongest discriminator but lower recall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Ensemble models did not outperform LR/SVM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583561-3F08-6BF9-BE94-91D094853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604588"/>
              </p:ext>
            </p:extLst>
          </p:nvPr>
        </p:nvGraphicFramePr>
        <p:xfrm>
          <a:off x="4946075" y="2873796"/>
          <a:ext cx="3713593" cy="1629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7419">
                  <a:extLst>
                    <a:ext uri="{9D8B030D-6E8A-4147-A177-3AD203B41FA5}">
                      <a16:colId xmlns:a16="http://schemas.microsoft.com/office/drawing/2014/main" val="2360403332"/>
                    </a:ext>
                  </a:extLst>
                </a:gridCol>
                <a:gridCol w="595746">
                  <a:extLst>
                    <a:ext uri="{9D8B030D-6E8A-4147-A177-3AD203B41FA5}">
                      <a16:colId xmlns:a16="http://schemas.microsoft.com/office/drawing/2014/main" val="1407907673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338398183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7552252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08148940"/>
                    </a:ext>
                  </a:extLst>
                </a:gridCol>
                <a:gridCol w="658664">
                  <a:extLst>
                    <a:ext uri="{9D8B030D-6E8A-4147-A177-3AD203B41FA5}">
                      <a16:colId xmlns:a16="http://schemas.microsoft.com/office/drawing/2014/main" val="4234627645"/>
                    </a:ext>
                  </a:extLst>
                </a:gridCol>
              </a:tblGrid>
              <a:tr h="2041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ROC‑AUC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6694226"/>
                  </a:ext>
                </a:extLst>
              </a:tr>
              <a:tr h="4070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0.7833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0.6761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0.5333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0.5963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0.8011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5243483"/>
                  </a:ext>
                </a:extLst>
              </a:tr>
              <a:tr h="4070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0.7600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0.6731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0.3889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0.4930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0.7955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6311293"/>
                  </a:ext>
                </a:extLst>
              </a:tr>
              <a:tr h="2041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(RBF)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0.7767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0.7255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0.4111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0.5248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0.8022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042328"/>
                  </a:ext>
                </a:extLst>
              </a:tr>
              <a:tr h="4070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0.7533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0.6250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0.4444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0.5195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0.7708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6967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471ECB8A-2873-78CE-69AA-E95CD3FE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>
            <a:extLst>
              <a:ext uri="{FF2B5EF4-FFF2-40B4-BE49-F238E27FC236}">
                <a16:creationId xmlns:a16="http://schemas.microsoft.com/office/drawing/2014/main" id="{C4F24E6B-EEFA-BD48-4295-7EC30F2E86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 (SHAP)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20">
            <a:extLst>
              <a:ext uri="{FF2B5EF4-FFF2-40B4-BE49-F238E27FC236}">
                <a16:creationId xmlns:a16="http://schemas.microsoft.com/office/drawing/2014/main" id="{F27005A1-C034-D6BB-D988-E28CDFC89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743017"/>
            <a:ext cx="7688700" cy="2953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Feature Importance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Checking account status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Credit history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Installment obligations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Credit amount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Duration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Explanations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High risk borrowers: low account balance, poor credit history, multiple obligations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Low risk borrowers: stable employment, good credit history, moderate loan amounts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SHAP provides transparent, regulator friendly explanations.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83186B-8662-DED1-8097-F72054863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62" y="1318650"/>
            <a:ext cx="3825846" cy="230431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9155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60E6120-959F-2DC5-3C6E-2EC92C7E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>
            <a:extLst>
              <a:ext uri="{FF2B5EF4-FFF2-40B4-BE49-F238E27FC236}">
                <a16:creationId xmlns:a16="http://schemas.microsoft.com/office/drawing/2014/main" id="{0415402C-6F56-B2FF-219E-B52B1DA5AB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20">
            <a:extLst>
              <a:ext uri="{FF2B5EF4-FFF2-40B4-BE49-F238E27FC236}">
                <a16:creationId xmlns:a16="http://schemas.microsoft.com/office/drawing/2014/main" id="{10DF6404-9570-258B-887F-FB6C6575C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853850"/>
            <a:ext cx="7688700" cy="2649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Across Age &amp; Gender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Disparate Impact: Age 0.94, Gender 0.97 (above 0.80 threshold)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Equal Opportunity Difference: Near zero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FPR Difference: Minimal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Accuracy Difference: Small and acceptable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No major fairness concerns detected.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Model treats demographic groups consistently.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Supports responsible AI deployment.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D796BB-3FC3-2D31-4FEC-5CCDC5C1F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109" y="2517079"/>
            <a:ext cx="3970059" cy="19625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3066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User Benefit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Benefits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Can be integrated into existing credit scoring workflows.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SHAP explanations support auditability and regulatory compliance.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Fairness metrics enable ongoing bias monitoring.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Reduces financial risk by improving identification of high-risk borrowers.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Scalable pipeline adaptable to modern datasets and production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729450" y="1066800"/>
            <a:ext cx="7688700" cy="717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729450" y="1670182"/>
            <a:ext cx="7688700" cy="33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Logistic Regression is the best overall model for balanced, interpretable credit default prediction.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SHAP reveals intuitive, domain consistent key drivers.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Fairness analysis confirms no major demographic bias.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Dataset is older and limited in sensitive attributes.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No temporal or stress testing capability.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Single dataset limits generalizability.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Use modern datasets with richer attributes.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Explore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calibrated models.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Implement fairness mitigation techniques.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Build dashboards for real time monitoring.</a:t>
            </a:r>
          </a:p>
          <a:p>
            <a:pPr marL="146050" indent="0">
              <a:lnSpc>
                <a:spcPct val="100000"/>
              </a:lnSpc>
              <a:spcAft>
                <a:spcPts val="600"/>
              </a:spcAft>
              <a:buNone/>
            </a:pPr>
            <a:endParaRPr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729450" y="1982622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Brown, I., &amp; Mues, C. (2012).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experimental comparison of classification algorithms for imbalanced credit scoring data.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Expert Systems with Applications, 39(3), 3446–3453.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Hand, D. J., &amp; Henley, W. E. (1997).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classification methods in consumer credit scoring: A review.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the Royal Statistical Society: Series A, 160(3), 523–541.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Lundberg, S. M., &amp; Lee, S.-I. (2017).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approach to interpreting model predictions.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Advances in Neural Information Processing Systems.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Hardt, M., Price, E., &amp; Srebro, N. (2016).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Equality of opportunity in supervised learning.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Advances in Neural Information Processing Systems.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Repository. (2024).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Credit Data Set.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California, Irvine.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1168</Words>
  <Application>Microsoft Office PowerPoint</Application>
  <PresentationFormat>On-screen Show (16:9)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Raleway</vt:lpstr>
      <vt:lpstr>Arial</vt:lpstr>
      <vt:lpstr>Lato</vt:lpstr>
      <vt:lpstr>Streamline</vt:lpstr>
      <vt:lpstr>Machine Learning Approaches for Credit Default Prediction QM640 V1: Data Analytics Capstone Final Presentation</vt:lpstr>
      <vt:lpstr>Executive Summary </vt:lpstr>
      <vt:lpstr>Gap Analysis</vt:lpstr>
      <vt:lpstr>Research Questions</vt:lpstr>
      <vt:lpstr>Data Description and EDA</vt:lpstr>
      <vt:lpstr>Architecture diagram/Workflow</vt:lpstr>
      <vt:lpstr>Model building</vt:lpstr>
      <vt:lpstr>Results</vt:lpstr>
      <vt:lpstr>Interpretability (SHAP)</vt:lpstr>
      <vt:lpstr>Fairness Analysis</vt:lpstr>
      <vt:lpstr>Implementation and User Benefit</vt:lpstr>
      <vt:lpstr>Conclusion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MOTHY KRISHNA NANDURI</cp:lastModifiedBy>
  <cp:revision>32</cp:revision>
  <dcterms:modified xsi:type="dcterms:W3CDTF">2026-04-08T11:03:36Z</dcterms:modified>
</cp:coreProperties>
</file>